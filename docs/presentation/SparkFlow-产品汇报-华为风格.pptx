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344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58952" y="822960"/>
            <a:ext cx="320040" cy="32004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58952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8952" y="15087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SparkFlow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58952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驱动的一站式研究平台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58952" y="3063240"/>
            <a:ext cx="1828800" cy="0"/>
          </a:xfrm>
          <a:prstGeom prst="line">
            <a:avLst/>
          </a:prstGeom>
          <a:noFill/>
          <a:ln w="1270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58952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v0.5.0-beta  |  产品汇报  |  2026 年 3 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763859"/>
            <a:ext cx="7626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研究者面临的挑战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58952" y="1403939"/>
            <a:ext cx="7626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研究工作中，信息获取与分析工具严重碎片化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8952" y="2089739"/>
            <a:ext cx="3566160" cy="9601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2089739"/>
            <a:ext cx="45720" cy="9601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199467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文档分散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2546939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PDF、论文、笔记散落在不同应用中，无法统一检索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90872" y="2089739"/>
            <a:ext cx="3566160" cy="9601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90872" y="2089739"/>
            <a:ext cx="45720" cy="9601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2199467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会议过载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2546939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数百场会议场次跨越多个会场，缺乏智能筛选与发现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278459"/>
            <a:ext cx="3566160" cy="9601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" y="3278459"/>
            <a:ext cx="45720" cy="9601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7552" y="3388187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 AI 集成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87552" y="3735659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无法跨文档提问或获取合成洞见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90872" y="3278459"/>
            <a:ext cx="3566160" cy="9601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3278459"/>
            <a:ext cx="45720" cy="9601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3388187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手动数据处理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9472" y="3735659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表格、手动匹配、复制粘贴流程耗费大量时间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162" y="763858"/>
            <a:ext cx="7626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SparkFlow 产品全景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48162" y="1403938"/>
            <a:ext cx="7626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一个平台，覆盖深度研究与学术智能的完整流程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533962" y="2044018"/>
            <a:ext cx="502920" cy="502920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33962" y="204401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8162" y="268409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深潜笔记本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8162" y="332417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上传文档、抓取网页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智能问答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85722" y="2044018"/>
            <a:ext cx="502920" cy="502920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85722" y="204401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99922" y="268409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Hub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探索中心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9922" y="332417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会议与论文发现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智能搜索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37482" y="2044018"/>
            <a:ext cx="502920" cy="502920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37482" y="204401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51682" y="268409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Generative UI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生成式交互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51682" y="332417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渲染交互式表格</a:t>
            </a:r>
            <a:endParaRPr lang="en-US" sz="12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与图表至聊天窗口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446792"/>
            <a:ext cx="1371600" cy="2743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446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深潜笔记本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" y="949712"/>
            <a:ext cx="7626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驱动的研究工作空间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58952" y="1882400"/>
            <a:ext cx="91440" cy="91440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772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文档上传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065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/ DOCX / TXT 文件经 RagFlow 自动分块处理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" y="2595632"/>
            <a:ext cx="91440" cy="91440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2485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网页抓取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2778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粘贴 URL，Crawl4AI 将网页转为 Markdown 并索引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" y="3308864"/>
            <a:ext cx="91440" cy="91440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7552" y="31991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智能问答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3491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跨所有来源提问，AI 检索相关片段并合成回答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" y="4022096"/>
            <a:ext cx="91440" cy="91440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7552" y="3912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智能笔记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42049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笔记与研究并行，全部可搜索互联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772672"/>
            <a:ext cx="292608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0" y="17726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上传/URL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1567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0" y="2394464"/>
            <a:ext cx="292608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23944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 分块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778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3016256"/>
            <a:ext cx="292608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0" y="301625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向量索引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4003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03520" y="3638048"/>
            <a:ext cx="2926080" cy="384048"/>
          </a:xfrm>
          <a:prstGeom prst="rect">
            <a:avLst/>
          </a:prstGeom>
          <a:solidFill>
            <a:srgbClr val="F7F8FA"/>
          </a:solidFill>
          <a:ln w="635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0" y="36380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问答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0220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03520" y="4259840"/>
            <a:ext cx="2926080" cy="384048"/>
          </a:xfrm>
          <a:prstGeom prst="rect">
            <a:avLst/>
          </a:prstGeom>
          <a:solidFill>
            <a:srgbClr val="CF0A2C"/>
          </a:solidFill>
          <a:ln w="635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0" y="4259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回答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640080"/>
            <a:ext cx="1188720" cy="2743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640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探索中心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" y="1143000"/>
            <a:ext cx="7626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会议、论文与场次的 AI 搜索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58952" y="2011680"/>
            <a:ext cx="356616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41832" y="2240280"/>
            <a:ext cx="411480" cy="41148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36192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总览仪表盘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36192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一览所有研究数据全貌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90872" y="2011680"/>
            <a:ext cx="356616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73752" y="2240280"/>
            <a:ext cx="411480" cy="41148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68112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会议浏览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68112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按会场、届次浏览会议详情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337560"/>
            <a:ext cx="356616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41832" y="3566160"/>
            <a:ext cx="411480" cy="41148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1832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36192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论文查询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36192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探索学术论文与研究成果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90872" y="3337560"/>
            <a:ext cx="356616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73752" y="3566160"/>
            <a:ext cx="411480" cy="41148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73752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68112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场次发现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68112" y="3867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发现讲座、工坊与教程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254" y="550870"/>
            <a:ext cx="1371600" cy="2743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81254" y="55087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生成式交互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81254" y="1053790"/>
            <a:ext cx="7626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渲染交互式 React 组件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81254" y="1895038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1254" y="189503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92734" y="187675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用户提出自然语言问题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254" y="237052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1254" y="23705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92734" y="235223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Hub Agent 查询数据库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1254" y="284601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81254" y="28460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92734" y="282772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决定渲染表格或图表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254" y="332150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254" y="332150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92734" y="330321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CopilotKit 在对话中渲染 React 组件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81254" y="3796990"/>
            <a:ext cx="274320" cy="274320"/>
          </a:xfrm>
          <a:prstGeom prst="ellipse">
            <a:avLst/>
          </a:prstGeom>
          <a:solidFill>
            <a:srgbClr val="CF0A2C"/>
          </a:solidFill>
          <a:ln w="1270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254" y="379699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92734" y="377870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用户与实时数据可视化交互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25822" y="1826458"/>
            <a:ext cx="3081528" cy="6858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08702" y="189961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交互式表格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08702" y="21922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可排序、可筛选的场次数据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25822" y="2740858"/>
            <a:ext cx="3081528" cy="6858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08702" y="281401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动态图表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08702" y="31066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/ Recharts 可视化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25822" y="3655258"/>
            <a:ext cx="3081528" cy="6858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08702" y="372841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智能摘要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08702" y="402101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合成的研究洞见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640080"/>
            <a:ext cx="1188720" cy="2743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8952" y="640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智能工具箱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58952" y="1143000"/>
            <a:ext cx="7626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批量研究操作工具集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58952" y="2011680"/>
            <a:ext cx="356616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8952" y="2011680"/>
            <a:ext cx="45720" cy="105156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2194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导入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上传电子表格，批量处理研究查询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90872" y="2011680"/>
            <a:ext cx="356616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90872" y="2011680"/>
            <a:ext cx="45720" cy="105156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21945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智能匹配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19472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AI 语义相似度匹配场次与论文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337560"/>
            <a:ext cx="356616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58952" y="3337560"/>
            <a:ext cx="45720" cy="105156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7552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结果存储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7552" y="3867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结果存储于 MinIO (S3) 用于下载与分享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90872" y="3337560"/>
            <a:ext cx="3566160" cy="105156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90872" y="3337560"/>
            <a:ext cx="45720" cy="105156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3520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任务历史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19472" y="3867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追踪所有匹配任务的状态、进度与结果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0269" y="191429"/>
            <a:ext cx="7626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10269" y="740069"/>
            <a:ext cx="7626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Monorepo 全栈 AI 基础设施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10269" y="1114973"/>
            <a:ext cx="2468880" cy="347472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0269" y="1114973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0269" y="1572173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429" y="1572173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 + React 19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0269" y="1919645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7429" y="1919645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269" y="2267117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7429" y="2267117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Shadcn/UI 组件库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0269" y="2614589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7429" y="2614589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CopilotKit (生成式 UI)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0269" y="2962061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7429" y="2962061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NextAuth.js v5 认证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269" y="3309533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7429" y="3309533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next-intl (中/英)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99189" y="1114973"/>
            <a:ext cx="2468880" cy="347472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99189" y="1114973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99189" y="1572173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36349" y="1572173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LangGraph 编排服务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99189" y="1919645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36349" y="1919645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Agent (OpenAI)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99189" y="2267117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36349" y="2267117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Agent (Gemini)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99189" y="2614589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36349" y="2614589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Hub Agent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99189" y="2962061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36349" y="2962061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工具执行循环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99189" y="3309533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36349" y="3309533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Prisma 7 ORM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88109" y="1114973"/>
            <a:ext cx="2468880" cy="347472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88109" y="1114973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188109" y="1572173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25269" y="1572173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17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88109" y="1919645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25269" y="1919645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 (RAG 管线)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88109" y="2267117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25269" y="2267117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MinIO (S3 存储)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88109" y="2614589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25269" y="2614589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Crawl4AI (网页抓取)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88109" y="2962061"/>
            <a:ext cx="2468880" cy="329184"/>
          </a:xfrm>
          <a:prstGeom prst="rect">
            <a:avLst/>
          </a:prstGeom>
          <a:solidFill>
            <a:srgbClr val="F7F8FA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25269" y="2962061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MinerU (PDF 提取)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188109" y="3309533"/>
            <a:ext cx="2468880" cy="329184"/>
          </a:xfrm>
          <a:prstGeom prst="rect">
            <a:avLst/>
          </a:prstGeom>
          <a:solidFill>
            <a:srgbClr val="FFFFFF"/>
          </a:solidFill>
          <a:ln w="317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25269" y="3309533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9D8CBF90-5A5E-1B20-D541-8C5F715DCB6E}"/>
              </a:ext>
            </a:extLst>
          </p:cNvPr>
          <p:cNvSpPr/>
          <p:nvPr/>
        </p:nvSpPr>
        <p:spPr>
          <a:xfrm>
            <a:off x="825859" y="3805502"/>
            <a:ext cx="233172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143F3A7D-5FBE-99E5-6FFE-F4DFE4A782E6}"/>
              </a:ext>
            </a:extLst>
          </p:cNvPr>
          <p:cNvSpPr/>
          <p:nvPr/>
        </p:nvSpPr>
        <p:spPr>
          <a:xfrm>
            <a:off x="825859" y="3805502"/>
            <a:ext cx="2331720" cy="36576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4D21CD04-1076-A5E3-2FF1-7770D84D9024}"/>
              </a:ext>
            </a:extLst>
          </p:cNvPr>
          <p:cNvSpPr/>
          <p:nvPr/>
        </p:nvSpPr>
        <p:spPr>
          <a:xfrm>
            <a:off x="963019" y="394266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</a:rPr>
              <a:t>模型路由</a:t>
            </a:r>
            <a:endParaRPr lang="en-US" sz="1400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4B50CD2B-EBA3-187A-7D9F-4EEFCB0E730B}"/>
              </a:ext>
            </a:extLst>
          </p:cNvPr>
          <p:cNvSpPr/>
          <p:nvPr/>
        </p:nvSpPr>
        <p:spPr>
          <a:xfrm>
            <a:off x="963019" y="426270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+ Gemini</a:t>
            </a:r>
            <a:endParaRPr lang="en-US" sz="12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23C609B5-1A5B-E16A-43F9-DCBA73E99F9A}"/>
              </a:ext>
            </a:extLst>
          </p:cNvPr>
          <p:cNvSpPr/>
          <p:nvPr/>
        </p:nvSpPr>
        <p:spPr>
          <a:xfrm>
            <a:off x="963019" y="453702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模型对比与灵活切换</a:t>
            </a:r>
            <a:endParaRPr lang="en-US" sz="1100" dirty="0"/>
          </a:p>
        </p:txBody>
      </p:sp>
      <p:sp>
        <p:nvSpPr>
          <p:cNvPr id="52" name="Shape 6">
            <a:extLst>
              <a:ext uri="{FF2B5EF4-FFF2-40B4-BE49-F238E27FC236}">
                <a16:creationId xmlns:a16="http://schemas.microsoft.com/office/drawing/2014/main" id="{9AD6C6F8-452D-CA99-CC40-17CE7C6A9B13}"/>
              </a:ext>
            </a:extLst>
          </p:cNvPr>
          <p:cNvSpPr/>
          <p:nvPr/>
        </p:nvSpPr>
        <p:spPr>
          <a:xfrm>
            <a:off x="3477619" y="3805502"/>
            <a:ext cx="233172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DC2F9335-BFFA-4D0F-7255-A3C7940DFF80}"/>
              </a:ext>
            </a:extLst>
          </p:cNvPr>
          <p:cNvSpPr/>
          <p:nvPr/>
        </p:nvSpPr>
        <p:spPr>
          <a:xfrm>
            <a:off x="3477619" y="3805502"/>
            <a:ext cx="2331720" cy="36576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9FFA1F90-70B7-8D1D-B78C-DFC56847A499}"/>
              </a:ext>
            </a:extLst>
          </p:cNvPr>
          <p:cNvSpPr/>
          <p:nvPr/>
        </p:nvSpPr>
        <p:spPr>
          <a:xfrm>
            <a:off x="3614779" y="394266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 UI</a:t>
            </a:r>
            <a:endParaRPr lang="en-US" sz="1400" dirty="0"/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60692F8C-F30E-0386-740E-851F7B0EB8F3}"/>
              </a:ext>
            </a:extLst>
          </p:cNvPr>
          <p:cNvSpPr/>
          <p:nvPr/>
        </p:nvSpPr>
        <p:spPr>
          <a:xfrm>
            <a:off x="3614779" y="426270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CopilotKit</a:t>
            </a:r>
            <a:endParaRPr lang="en-US" sz="12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C9400376-0B64-0A8A-100F-693134D172A1}"/>
              </a:ext>
            </a:extLst>
          </p:cNvPr>
          <p:cNvSpPr/>
          <p:nvPr/>
        </p:nvSpPr>
        <p:spPr>
          <a:xfrm>
            <a:off x="3614779" y="453702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在对话中渲染 React 组件</a:t>
            </a:r>
            <a:endParaRPr lang="en-US" sz="1100" dirty="0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B416C33-6D76-5D3E-6D4C-0CC2C6EC8C7E}"/>
              </a:ext>
            </a:extLst>
          </p:cNvPr>
          <p:cNvSpPr/>
          <p:nvPr/>
        </p:nvSpPr>
        <p:spPr>
          <a:xfrm>
            <a:off x="6129379" y="3805502"/>
            <a:ext cx="2331720" cy="114300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Shape 17">
            <a:extLst>
              <a:ext uri="{FF2B5EF4-FFF2-40B4-BE49-F238E27FC236}">
                <a16:creationId xmlns:a16="http://schemas.microsoft.com/office/drawing/2014/main" id="{D44AE7F9-FAB9-EFB3-C983-AAA151F466B5}"/>
              </a:ext>
            </a:extLst>
          </p:cNvPr>
          <p:cNvSpPr/>
          <p:nvPr/>
        </p:nvSpPr>
        <p:spPr>
          <a:xfrm>
            <a:off x="6129379" y="3805502"/>
            <a:ext cx="2331720" cy="36576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6667013F-C620-671F-A513-42CB2130BD87}"/>
              </a:ext>
            </a:extLst>
          </p:cNvPr>
          <p:cNvSpPr/>
          <p:nvPr/>
        </p:nvSpPr>
        <p:spPr>
          <a:xfrm>
            <a:off x="6266539" y="394266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管线</a:t>
            </a:r>
            <a:endParaRPr lang="en-US" sz="1400" dirty="0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225559C0-ECD8-ED1E-CA2D-E04CA93E89AF}"/>
              </a:ext>
            </a:extLst>
          </p:cNvPr>
          <p:cNvSpPr/>
          <p:nvPr/>
        </p:nvSpPr>
        <p:spPr>
          <a:xfrm>
            <a:off x="6266539" y="426270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RagFlow</a:t>
            </a:r>
            <a:endParaRPr lang="en-US" sz="1200" dirty="0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5D2B3BA8-9C68-7898-A880-A5455681127A}"/>
              </a:ext>
            </a:extLst>
          </p:cNvPr>
          <p:cNvSpPr/>
          <p:nvPr/>
        </p:nvSpPr>
        <p:spPr>
          <a:xfrm>
            <a:off x="6266539" y="453702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文档分块、索引与检索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" y="538233"/>
            <a:ext cx="7626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645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未来规划</a:t>
            </a:r>
            <a:endParaRPr lang="en-US" sz="3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952" y="1178313"/>
            <a:ext cx="7626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C939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即将推出的功能与能力</a:t>
            </a:r>
            <a:endParaRPr 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952" y="1818393"/>
            <a:ext cx="7626096" cy="5029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58952" y="1818393"/>
            <a:ext cx="45720" cy="5029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87552" y="1909833"/>
            <a:ext cx="292608" cy="292608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552" y="190983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1</a:t>
            </a:r>
            <a:endParaRPr lang="en-US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44752" y="1864113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Hub → Notebook 集成</a:t>
            </a:r>
            <a:endParaRPr 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44752" y="2092713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将发现的场次与论文直接导入 DeepDive 笔记本进行深度分析</a:t>
            </a:r>
            <a:endParaRPr lang="en-US" sz="11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8952" y="2385321"/>
            <a:ext cx="7626096" cy="5029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58952" y="2385321"/>
            <a:ext cx="45720" cy="5029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87552" y="2476761"/>
            <a:ext cx="292608" cy="292608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552" y="247676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2</a:t>
            </a:r>
            <a:endParaRPr lang="en-US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44752" y="2431041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全局知识库</a:t>
            </a:r>
            <a:endParaRPr 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44752" y="2659641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跨用户的共享知识仓库，支持团队协作与知识沉淀</a:t>
            </a:r>
            <a:endParaRPr lang="en-US" sz="11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8952" y="2952249"/>
            <a:ext cx="7626096" cy="5029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8952" y="2952249"/>
            <a:ext cx="45720" cy="5029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87552" y="3043689"/>
            <a:ext cx="292608" cy="292608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7552" y="304368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3</a:t>
            </a:r>
            <a:endParaRPr lang="en-US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44752" y="2997969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生产环境加固</a:t>
            </a:r>
            <a:endParaRPr 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444752" y="3226569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性能优化、国际化扩展覆盖、安全审计与部署自动化</a:t>
            </a:r>
            <a:endParaRPr lang="en-US" sz="11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58952" y="3519177"/>
            <a:ext cx="7626096" cy="5029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58952" y="3519177"/>
            <a:ext cx="45720" cy="5029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87552" y="3610617"/>
            <a:ext cx="292608" cy="292608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87552" y="361061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4</a:t>
            </a:r>
            <a:endParaRPr lang="en-US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44752" y="3564897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反馈收集机制</a:t>
            </a:r>
            <a:endParaRPr 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444752" y="3793497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内置用户反馈通道，收集使用体验与功能建议，驱动数据导向的产品迭代</a:t>
            </a:r>
            <a:endParaRPr lang="en-US" sz="11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8952" y="4086105"/>
            <a:ext cx="7626096" cy="502920"/>
          </a:xfrm>
          <a:prstGeom prst="rect">
            <a:avLst/>
          </a:prstGeom>
          <a:solidFill>
            <a:srgbClr val="F7F8F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58952" y="4086105"/>
            <a:ext cx="45720" cy="50292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87552" y="4177545"/>
            <a:ext cx="292608" cy="292608"/>
          </a:xfrm>
          <a:prstGeom prst="ellipse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87552" y="417754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5</a:t>
            </a:r>
            <a:endParaRPr lang="en-US" sz="1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44752" y="4131825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6454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技术路线演进推演</a:t>
            </a:r>
            <a:endParaRPr lang="en-US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44752" y="4360425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B33E73BD-491D-5F2B-2722-B793712AD0B0}"/>
              </a:ext>
            </a:extLst>
          </p:cNvPr>
          <p:cNvSpPr/>
          <p:nvPr/>
        </p:nvSpPr>
        <p:spPr>
          <a:xfrm>
            <a:off x="1444752" y="4378713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C939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基于种子信息和deepresearch功能，AI </a:t>
            </a:r>
            <a:r>
              <a:rPr lang="en-US" sz="1100" dirty="0" err="1">
                <a:solidFill>
                  <a:srgbClr val="8C939D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YaHei" pitchFamily="34" charset="-120"/>
              </a:rPr>
              <a:t>生成知识图谱，推演技术路线发展</a:t>
            </a:r>
            <a:endParaRPr lang="en-US" sz="11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416552" y="1097280"/>
            <a:ext cx="320040" cy="320040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416552" y="1097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645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0" y="2697480"/>
            <a:ext cx="1828800" cy="0"/>
          </a:xfrm>
          <a:prstGeom prst="line">
            <a:avLst/>
          </a:prstGeom>
          <a:noFill/>
          <a:ln w="12700">
            <a:solidFill>
              <a:srgbClr val="CF0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0A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欢迎提问与讨论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93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SparkFlow v0.5.0-beta  |  AI 驱动的一站式研究平台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F0A2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345</Words>
  <Application>Microsoft Macintosh PowerPoint</Application>
  <PresentationFormat>On-screen Show (16:9)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Microsoft YaHei UI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SparkFlow 产品汇报</dc:title>
  <dc:subject>PptxGenJS Presentation</dc:subject>
  <dc:creator>SparkFlow Team</dc:creator>
  <cp:lastModifiedBy>Lin, Wanzhen</cp:lastModifiedBy>
  <cp:revision>13</cp:revision>
  <dcterms:created xsi:type="dcterms:W3CDTF">2026-03-11T20:38:10Z</dcterms:created>
  <dcterms:modified xsi:type="dcterms:W3CDTF">2026-03-11T20:51:32Z</dcterms:modified>
</cp:coreProperties>
</file>